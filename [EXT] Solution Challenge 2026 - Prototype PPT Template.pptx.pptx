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Canva Sans Bold" charset="1" panose="020B0803030501040103"/>
      <p:regular r:id="rId18"/>
    </p:embeddedFont>
    <p:embeddedFont>
      <p:font typeface="Arial" charset="1" panose="020B0604020202020204"/>
      <p:regular r:id="rId20"/>
    </p:embeddedFont>
    <p:embeddedFont>
      <p:font typeface="Canva Sans Bold Italics" charset="1" panose="020B0803030501040103"/>
      <p:regular r:id="rId22"/>
    </p:embeddedFont>
    <p:embeddedFont>
      <p:font typeface="Canva Sans Italics" charset="1" panose="020B0503030501040103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embeddings/oleObject2.bin" Type="http://schemas.openxmlformats.org/officeDocument/2006/relationships/oleObject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embeddings/oleObject3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leafletjs.com" TargetMode="External" Type="http://schemas.openxmlformats.org/officeDocument/2006/relationships/hyperlink"/><Relationship Id="rId3" Target="https://www.openstreetmap.org" TargetMode="External" Type="http://schemas.openxmlformats.org/officeDocument/2006/relationships/hyperlink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97745"/>
            <a:ext cx="18288000" cy="5389245"/>
            <a:chOff x="0" y="0"/>
            <a:chExt cx="24384000" cy="71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185660"/>
            </a:xfrm>
            <a:custGeom>
              <a:avLst/>
              <a:gdLst/>
              <a:ahLst/>
              <a:cxnLst/>
              <a:rect r="r" b="b" t="t" l="l"/>
              <a:pathLst>
                <a:path h="71856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185660"/>
                  </a:lnTo>
                  <a:lnTo>
                    <a:pt x="0" y="7185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0879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-7048595" y="-2207665"/>
            <a:ext cx="17337148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Details</a:t>
            </a:r>
          </a:p>
          <a:p>
            <a:pPr algn="l">
              <a:lnSpc>
                <a:spcPts val="3359"/>
              </a:lnSpc>
            </a:pPr>
          </a:p>
          <a:p>
            <a:pPr algn="l" marL="2011680" indent="-670560" lvl="2">
              <a:lnSpc>
                <a:spcPts val="4320"/>
              </a:lnSpc>
              <a:buAutoNum type="alphaLcPeriod" startAt="1"/>
            </a:pPr>
            <a:r>
              <a:rPr lang="en-US" b="true" sz="3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name: </a:t>
            </a:r>
          </a:p>
          <a:p>
            <a:pPr algn="l" marL="2011680" indent="-670560" lvl="2">
              <a:lnSpc>
                <a:spcPts val="4320"/>
              </a:lnSpc>
              <a:buAutoNum type="alphaLcPeriod" startAt="1"/>
            </a:pPr>
            <a:r>
              <a:rPr lang="en-US" b="true" sz="3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leader name: </a:t>
            </a:r>
          </a:p>
          <a:p>
            <a:pPr algn="l" marL="2011680" indent="-670560" lvl="2">
              <a:lnSpc>
                <a:spcPts val="4320"/>
              </a:lnSpc>
              <a:buAutoNum type="alphaLcPeriod" startAt="1"/>
            </a:pPr>
            <a:r>
              <a:rPr lang="en-US" b="true" sz="3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Statement: </a:t>
            </a:r>
          </a:p>
          <a:p>
            <a:pPr algn="l" marL="1564640" indent="-521547" lvl="2">
              <a:lnSpc>
                <a:spcPts val="335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7990" cy="5518556"/>
            <a:chOff x="0" y="0"/>
            <a:chExt cx="24383987" cy="7358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7358126"/>
            </a:xfrm>
            <a:custGeom>
              <a:avLst/>
              <a:gdLst/>
              <a:ahLst/>
              <a:cxnLst/>
              <a:rect r="r" b="b" t="t" l="l"/>
              <a:pathLst>
                <a:path h="735812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58126"/>
                  </a:lnTo>
                  <a:lnTo>
                    <a:pt x="0" y="735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4859" y="5695355"/>
            <a:ext cx="4057439" cy="4392531"/>
            <a:chOff x="0" y="0"/>
            <a:chExt cx="1068626" cy="11568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8626" cy="1156881"/>
            </a:xfrm>
            <a:custGeom>
              <a:avLst/>
              <a:gdLst/>
              <a:ahLst/>
              <a:cxnLst/>
              <a:rect r="r" b="b" t="t" l="l"/>
              <a:pathLst>
                <a:path h="1156881" w="1068626">
                  <a:moveTo>
                    <a:pt x="32437" y="0"/>
                  </a:moveTo>
                  <a:lnTo>
                    <a:pt x="1036189" y="0"/>
                  </a:lnTo>
                  <a:cubicBezTo>
                    <a:pt x="1044792" y="0"/>
                    <a:pt x="1053042" y="3417"/>
                    <a:pt x="1059125" y="9501"/>
                  </a:cubicBezTo>
                  <a:cubicBezTo>
                    <a:pt x="1065208" y="15584"/>
                    <a:pt x="1068626" y="23834"/>
                    <a:pt x="1068626" y="32437"/>
                  </a:cubicBezTo>
                  <a:lnTo>
                    <a:pt x="1068626" y="1124443"/>
                  </a:lnTo>
                  <a:cubicBezTo>
                    <a:pt x="1068626" y="1133046"/>
                    <a:pt x="1065208" y="1141297"/>
                    <a:pt x="1059125" y="1147380"/>
                  </a:cubicBezTo>
                  <a:cubicBezTo>
                    <a:pt x="1053042" y="1153463"/>
                    <a:pt x="1044792" y="1156881"/>
                    <a:pt x="1036189" y="1156881"/>
                  </a:cubicBezTo>
                  <a:lnTo>
                    <a:pt x="32437" y="1156881"/>
                  </a:lnTo>
                  <a:cubicBezTo>
                    <a:pt x="23834" y="1156881"/>
                    <a:pt x="15584" y="1153463"/>
                    <a:pt x="9501" y="1147380"/>
                  </a:cubicBezTo>
                  <a:cubicBezTo>
                    <a:pt x="3417" y="1141297"/>
                    <a:pt x="0" y="1133046"/>
                    <a:pt x="0" y="1124443"/>
                  </a:cubicBezTo>
                  <a:lnTo>
                    <a:pt x="0" y="32437"/>
                  </a:lnTo>
                  <a:cubicBezTo>
                    <a:pt x="0" y="23834"/>
                    <a:pt x="3417" y="15584"/>
                    <a:pt x="9501" y="9501"/>
                  </a:cubicBezTo>
                  <a:cubicBezTo>
                    <a:pt x="15584" y="3417"/>
                    <a:pt x="23834" y="0"/>
                    <a:pt x="3243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8626" cy="119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99695" y="5695355"/>
            <a:ext cx="4356907" cy="4391339"/>
            <a:chOff x="0" y="0"/>
            <a:chExt cx="1147498" cy="11565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7498" cy="1156567"/>
            </a:xfrm>
            <a:custGeom>
              <a:avLst/>
              <a:gdLst/>
              <a:ahLst/>
              <a:cxnLst/>
              <a:rect r="r" b="b" t="t" l="l"/>
              <a:pathLst>
                <a:path h="1156567" w="1147498">
                  <a:moveTo>
                    <a:pt x="30208" y="0"/>
                  </a:moveTo>
                  <a:lnTo>
                    <a:pt x="1117290" y="0"/>
                  </a:lnTo>
                  <a:cubicBezTo>
                    <a:pt x="1133974" y="0"/>
                    <a:pt x="1147498" y="13525"/>
                    <a:pt x="1147498" y="30208"/>
                  </a:cubicBezTo>
                  <a:lnTo>
                    <a:pt x="1147498" y="1126359"/>
                  </a:lnTo>
                  <a:cubicBezTo>
                    <a:pt x="1147498" y="1143042"/>
                    <a:pt x="1133974" y="1156567"/>
                    <a:pt x="1117290" y="1156567"/>
                  </a:cubicBezTo>
                  <a:lnTo>
                    <a:pt x="30208" y="1156567"/>
                  </a:lnTo>
                  <a:cubicBezTo>
                    <a:pt x="13525" y="1156567"/>
                    <a:pt x="0" y="1143042"/>
                    <a:pt x="0" y="1126359"/>
                  </a:cubicBezTo>
                  <a:lnTo>
                    <a:pt x="0" y="30208"/>
                  </a:lnTo>
                  <a:cubicBezTo>
                    <a:pt x="0" y="13525"/>
                    <a:pt x="13525" y="0"/>
                    <a:pt x="30208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47498" cy="1194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5695355"/>
            <a:ext cx="4280725" cy="4391339"/>
            <a:chOff x="0" y="0"/>
            <a:chExt cx="1127434" cy="11565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7434" cy="1156567"/>
            </a:xfrm>
            <a:custGeom>
              <a:avLst/>
              <a:gdLst/>
              <a:ahLst/>
              <a:cxnLst/>
              <a:rect r="r" b="b" t="t" l="l"/>
              <a:pathLst>
                <a:path h="1156567" w="1127434">
                  <a:moveTo>
                    <a:pt x="30745" y="0"/>
                  </a:moveTo>
                  <a:lnTo>
                    <a:pt x="1096688" y="0"/>
                  </a:lnTo>
                  <a:cubicBezTo>
                    <a:pt x="1113669" y="0"/>
                    <a:pt x="1127434" y="13765"/>
                    <a:pt x="1127434" y="30745"/>
                  </a:cubicBezTo>
                  <a:lnTo>
                    <a:pt x="1127434" y="1125821"/>
                  </a:lnTo>
                  <a:cubicBezTo>
                    <a:pt x="1127434" y="1142801"/>
                    <a:pt x="1113669" y="1156567"/>
                    <a:pt x="1096688" y="1156567"/>
                  </a:cubicBezTo>
                  <a:lnTo>
                    <a:pt x="30745" y="1156567"/>
                  </a:lnTo>
                  <a:cubicBezTo>
                    <a:pt x="13765" y="1156567"/>
                    <a:pt x="0" y="1142801"/>
                    <a:pt x="0" y="1125821"/>
                  </a:cubicBezTo>
                  <a:lnTo>
                    <a:pt x="0" y="30745"/>
                  </a:lnTo>
                  <a:cubicBezTo>
                    <a:pt x="0" y="13765"/>
                    <a:pt x="13765" y="0"/>
                    <a:pt x="30745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27434" cy="1194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10475" y="5778956"/>
            <a:ext cx="4193199" cy="4391339"/>
            <a:chOff x="0" y="0"/>
            <a:chExt cx="1104382" cy="11565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4382" cy="1156567"/>
            </a:xfrm>
            <a:custGeom>
              <a:avLst/>
              <a:gdLst/>
              <a:ahLst/>
              <a:cxnLst/>
              <a:rect r="r" b="b" t="t" l="l"/>
              <a:pathLst>
                <a:path h="1156567" w="1104382">
                  <a:moveTo>
                    <a:pt x="31387" y="0"/>
                  </a:moveTo>
                  <a:lnTo>
                    <a:pt x="1072994" y="0"/>
                  </a:lnTo>
                  <a:cubicBezTo>
                    <a:pt x="1081319" y="0"/>
                    <a:pt x="1089302" y="3307"/>
                    <a:pt x="1095189" y="9193"/>
                  </a:cubicBezTo>
                  <a:cubicBezTo>
                    <a:pt x="1101075" y="15079"/>
                    <a:pt x="1104382" y="23063"/>
                    <a:pt x="1104382" y="31387"/>
                  </a:cubicBezTo>
                  <a:lnTo>
                    <a:pt x="1104382" y="1125179"/>
                  </a:lnTo>
                  <a:cubicBezTo>
                    <a:pt x="1104382" y="1142514"/>
                    <a:pt x="1090329" y="1156567"/>
                    <a:pt x="1072994" y="1156567"/>
                  </a:cubicBezTo>
                  <a:lnTo>
                    <a:pt x="31387" y="1156567"/>
                  </a:lnTo>
                  <a:cubicBezTo>
                    <a:pt x="23063" y="1156567"/>
                    <a:pt x="15079" y="1153260"/>
                    <a:pt x="9193" y="1147374"/>
                  </a:cubicBezTo>
                  <a:cubicBezTo>
                    <a:pt x="3307" y="1141487"/>
                    <a:pt x="0" y="1133504"/>
                    <a:pt x="0" y="1125179"/>
                  </a:cubicBezTo>
                  <a:lnTo>
                    <a:pt x="0" y="31387"/>
                  </a:lnTo>
                  <a:cubicBezTo>
                    <a:pt x="0" y="23063"/>
                    <a:pt x="3307" y="15079"/>
                    <a:pt x="9193" y="9193"/>
                  </a:cubicBezTo>
                  <a:cubicBezTo>
                    <a:pt x="15079" y="3307"/>
                    <a:pt x="23063" y="0"/>
                    <a:pt x="31387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04382" cy="1194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489973" y="5690970"/>
            <a:ext cx="5308045" cy="113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6"/>
              </a:lnSpc>
            </a:pPr>
            <a:r>
              <a:rPr lang="en-US" b="true" sz="666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Details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0" y="7037205"/>
            <a:ext cx="17609122" cy="342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11" indent="-528956" lvl="1">
              <a:lnSpc>
                <a:spcPts val="6860"/>
              </a:lnSpc>
              <a:buFont typeface="Arial"/>
              <a:buChar char="•"/>
            </a:pPr>
            <a:r>
              <a:rPr lang="en-US" b="true" sz="4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name:   Tech  Pandas                </a:t>
            </a:r>
          </a:p>
          <a:p>
            <a:pPr algn="l" marL="1057911" indent="-528956" lvl="1">
              <a:lnSpc>
                <a:spcPts val="6860"/>
              </a:lnSpc>
              <a:buFont typeface="Arial"/>
              <a:buChar char="•"/>
            </a:pPr>
            <a:r>
              <a:rPr lang="en-US" b="true" sz="4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leader name:  Harsh   Singh     </a:t>
            </a:r>
          </a:p>
          <a:p>
            <a:pPr algn="l" marL="1057911" indent="-528956" lvl="1">
              <a:lnSpc>
                <a:spcPts val="6860"/>
              </a:lnSpc>
              <a:buFont typeface="Arial"/>
              <a:buChar char="•"/>
            </a:pPr>
            <a:r>
              <a:rPr lang="en-US" b="true" sz="4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 Statement: Smart Supply Chains   </a:t>
            </a:r>
          </a:p>
          <a:p>
            <a:pPr algn="ctr">
              <a:lnSpc>
                <a:spcPts val="686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4394" y="7180626"/>
            <a:ext cx="17259300" cy="2842750"/>
            <a:chOff x="0" y="0"/>
            <a:chExt cx="4545659" cy="7487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5659" cy="748708"/>
            </a:xfrm>
            <a:custGeom>
              <a:avLst/>
              <a:gdLst/>
              <a:ahLst/>
              <a:cxnLst/>
              <a:rect r="r" b="b" t="t" l="l"/>
              <a:pathLst>
                <a:path h="748708" w="4545659">
                  <a:moveTo>
                    <a:pt x="7626" y="0"/>
                  </a:moveTo>
                  <a:lnTo>
                    <a:pt x="4538034" y="0"/>
                  </a:lnTo>
                  <a:cubicBezTo>
                    <a:pt x="4540056" y="0"/>
                    <a:pt x="4541996" y="803"/>
                    <a:pt x="4543426" y="2233"/>
                  </a:cubicBezTo>
                  <a:cubicBezTo>
                    <a:pt x="4544856" y="3664"/>
                    <a:pt x="4545659" y="5603"/>
                    <a:pt x="4545659" y="7626"/>
                  </a:cubicBezTo>
                  <a:lnTo>
                    <a:pt x="4545659" y="741082"/>
                  </a:lnTo>
                  <a:cubicBezTo>
                    <a:pt x="4545659" y="745294"/>
                    <a:pt x="4542245" y="748708"/>
                    <a:pt x="4538034" y="748708"/>
                  </a:cubicBezTo>
                  <a:lnTo>
                    <a:pt x="7626" y="748708"/>
                  </a:lnTo>
                  <a:cubicBezTo>
                    <a:pt x="5603" y="748708"/>
                    <a:pt x="3664" y="747905"/>
                    <a:pt x="2233" y="746474"/>
                  </a:cubicBezTo>
                  <a:cubicBezTo>
                    <a:pt x="803" y="745044"/>
                    <a:pt x="0" y="743105"/>
                    <a:pt x="0" y="741082"/>
                  </a:cubicBezTo>
                  <a:lnTo>
                    <a:pt x="0" y="7626"/>
                  </a:lnTo>
                  <a:cubicBezTo>
                    <a:pt x="0" y="5603"/>
                    <a:pt x="803" y="3664"/>
                    <a:pt x="2233" y="2233"/>
                  </a:cubicBezTo>
                  <a:cubicBezTo>
                    <a:pt x="3664" y="803"/>
                    <a:pt x="5603" y="0"/>
                    <a:pt x="762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545659" cy="805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Important Note: While existing systems like Google Maps provide traffic data, your solution is purpose-built for Supply Chain Orchestration, meaning it prioritizes shipment priority and driver availability over just "avoiding a red line on a map."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2669" y="1277009"/>
            <a:ext cx="6827718" cy="5677445"/>
            <a:chOff x="0" y="0"/>
            <a:chExt cx="7069638" cy="58786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69638" cy="5777009"/>
            </a:xfrm>
            <a:custGeom>
              <a:avLst/>
              <a:gdLst/>
              <a:ahLst/>
              <a:cxnLst/>
              <a:rect r="r" b="b" t="t" l="l"/>
              <a:pathLst>
                <a:path h="5777009" w="7069638">
                  <a:moveTo>
                    <a:pt x="0" y="0"/>
                  </a:moveTo>
                  <a:lnTo>
                    <a:pt x="7069638" y="0"/>
                  </a:lnTo>
                  <a:lnTo>
                    <a:pt x="7069638" y="5777009"/>
                  </a:lnTo>
                  <a:lnTo>
                    <a:pt x="0" y="5777009"/>
                  </a:lnTo>
                  <a:close/>
                </a:path>
              </a:pathLst>
            </a:custGeom>
            <a:solidFill>
              <a:srgbClr val="C991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9638" cy="5878609"/>
            </a:xfrm>
            <a:custGeom>
              <a:avLst/>
              <a:gdLst/>
              <a:ahLst/>
              <a:cxnLst/>
              <a:rect r="r" b="b" t="t" l="l"/>
              <a:pathLst>
                <a:path h="5878609" w="7069638">
                  <a:moveTo>
                    <a:pt x="0" y="5777009"/>
                  </a:moveTo>
                  <a:lnTo>
                    <a:pt x="7069638" y="5777009"/>
                  </a:lnTo>
                  <a:lnTo>
                    <a:pt x="6942638" y="5878609"/>
                  </a:lnTo>
                  <a:cubicBezTo>
                    <a:pt x="6942638" y="5878609"/>
                    <a:pt x="5952038" y="5802409"/>
                    <a:pt x="5850438" y="5802409"/>
                  </a:cubicBezTo>
                  <a:lnTo>
                    <a:pt x="1219200" y="5802409"/>
                  </a:lnTo>
                  <a:cubicBezTo>
                    <a:pt x="1117600" y="5802409"/>
                    <a:pt x="127000" y="5878609"/>
                    <a:pt x="127000" y="5878609"/>
                  </a:cubicBezTo>
                  <a:lnTo>
                    <a:pt x="0" y="5777009"/>
                  </a:lnTo>
                  <a:lnTo>
                    <a:pt x="0" y="0"/>
                  </a:lnTo>
                  <a:lnTo>
                    <a:pt x="7069638" y="0"/>
                  </a:lnTo>
                  <a:lnTo>
                    <a:pt x="7069638" y="5777009"/>
                  </a:lnTo>
                  <a:lnTo>
                    <a:pt x="12700" y="5777009"/>
                  </a:lnTo>
                  <a:lnTo>
                    <a:pt x="12700" y="5764309"/>
                  </a:lnTo>
                  <a:lnTo>
                    <a:pt x="7056938" y="5764309"/>
                  </a:lnTo>
                  <a:lnTo>
                    <a:pt x="7056938" y="12700"/>
                  </a:lnTo>
                  <a:lnTo>
                    <a:pt x="12700" y="12700"/>
                  </a:lnTo>
                  <a:lnTo>
                    <a:pt x="12700" y="5777009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7069638" cy="5396009"/>
            </a:xfrm>
            <a:prstGeom prst="rect">
              <a:avLst/>
            </a:prstGeom>
          </p:spPr>
          <p:txBody>
            <a:bodyPr anchor="t" rtlCol="false" tIns="261662" lIns="261662" bIns="261662" rIns="261662"/>
            <a:lstStyle/>
            <a:p>
              <a:pPr algn="l">
                <a:lnSpc>
                  <a:spcPts val="3705"/>
                </a:lnSpc>
              </a:pPr>
              <a:r>
                <a:rPr lang="en-US" sz="264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solution replaces standard geometric routing with a multi-variable optimization formula:</a:t>
              </a:r>
            </a:p>
            <a:p>
              <a:pPr algn="l" marL="571409" indent="-285705" lvl="1">
                <a:lnSpc>
                  <a:spcPts val="3705"/>
                </a:lnSpc>
                <a:buFont typeface="Arial"/>
                <a:buChar char="•"/>
              </a:pPr>
              <a:r>
                <a:rPr lang="en-US" sz="264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Existing Logic: Min(Distance) — Focuses solely on the shortest physical path.</a:t>
              </a:r>
            </a:p>
            <a:p>
              <a:pPr algn="l" marL="571409" indent="-285705" lvl="1">
                <a:lnSpc>
                  <a:spcPts val="3705"/>
                </a:lnSpc>
                <a:buFont typeface="Arial"/>
                <a:buChar char="•"/>
              </a:pPr>
              <a:r>
                <a:rPr lang="en-US" sz="264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lang="en-US" sz="264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ur Logic: Min(Time + Risk + Fuel) — Optimizes for speed, cargo safety, and cost-efficiency simultaneously.</a:t>
              </a:r>
            </a:p>
            <a:p>
              <a:pPr algn="l">
                <a:lnSpc>
                  <a:spcPts val="370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35184" y="1277009"/>
            <a:ext cx="9310438" cy="5410942"/>
            <a:chOff x="0" y="0"/>
            <a:chExt cx="2452132" cy="14251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52132" cy="1425104"/>
            </a:xfrm>
            <a:custGeom>
              <a:avLst/>
              <a:gdLst/>
              <a:ahLst/>
              <a:cxnLst/>
              <a:rect r="r" b="b" t="t" l="l"/>
              <a:pathLst>
                <a:path h="1425104" w="2452132">
                  <a:moveTo>
                    <a:pt x="0" y="0"/>
                  </a:moveTo>
                  <a:lnTo>
                    <a:pt x="2452132" y="0"/>
                  </a:lnTo>
                  <a:lnTo>
                    <a:pt x="2452132" y="1425104"/>
                  </a:lnTo>
                  <a:lnTo>
                    <a:pt x="0" y="142510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52132" cy="1463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635184" y="1840688"/>
            <a:ext cx="9310438" cy="4650957"/>
          </a:xfrm>
          <a:custGeom>
            <a:avLst/>
            <a:gdLst/>
            <a:ahLst/>
            <a:cxnLst/>
            <a:rect r="r" b="b" t="t" l="l"/>
            <a:pathLst>
              <a:path h="4650957" w="9310438">
                <a:moveTo>
                  <a:pt x="0" y="0"/>
                </a:moveTo>
                <a:lnTo>
                  <a:pt x="9310438" y="0"/>
                </a:lnTo>
                <a:lnTo>
                  <a:pt x="9310438" y="4650958"/>
                </a:lnTo>
                <a:lnTo>
                  <a:pt x="0" y="4650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4" t="0" r="-2934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7326" y="6011823"/>
            <a:ext cx="17673349" cy="3086100"/>
            <a:chOff x="0" y="0"/>
            <a:chExt cx="4654709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54709" cy="812800"/>
            </a:xfrm>
            <a:custGeom>
              <a:avLst/>
              <a:gdLst/>
              <a:ahLst/>
              <a:cxnLst/>
              <a:rect r="r" b="b" t="t" l="l"/>
              <a:pathLst>
                <a:path h="812800" w="4654709">
                  <a:moveTo>
                    <a:pt x="7447" y="0"/>
                  </a:moveTo>
                  <a:lnTo>
                    <a:pt x="4647262" y="0"/>
                  </a:lnTo>
                  <a:cubicBezTo>
                    <a:pt x="4651375" y="0"/>
                    <a:pt x="4654709" y="3334"/>
                    <a:pt x="4654709" y="7447"/>
                  </a:cubicBezTo>
                  <a:lnTo>
                    <a:pt x="4654709" y="805353"/>
                  </a:lnTo>
                  <a:cubicBezTo>
                    <a:pt x="4654709" y="809466"/>
                    <a:pt x="4651375" y="812800"/>
                    <a:pt x="4647262" y="812800"/>
                  </a:cubicBezTo>
                  <a:lnTo>
                    <a:pt x="7447" y="812800"/>
                  </a:lnTo>
                  <a:cubicBezTo>
                    <a:pt x="3334" y="812800"/>
                    <a:pt x="0" y="809466"/>
                    <a:pt x="0" y="805353"/>
                  </a:cubicBezTo>
                  <a:lnTo>
                    <a:pt x="0" y="7447"/>
                  </a:lnTo>
                  <a:cubicBezTo>
                    <a:pt x="0" y="3334"/>
                    <a:pt x="3334" y="0"/>
                    <a:pt x="7447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654709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b="true" sz="26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The Difference</a:t>
              </a:r>
            </a:p>
            <a:p>
              <a:pPr algn="l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Most companies use </a:t>
              </a:r>
              <a:r>
                <a:rPr lang="en-US" b="true" sz="26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three </a:t>
              </a:r>
              <a:r>
                <a:rPr lang="en-US" sz="2699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different pieces of </a:t>
              </a:r>
              <a:r>
                <a:rPr lang="en-US" b="true" sz="26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software </a:t>
              </a:r>
              <a:r>
                <a:rPr lang="en-US" sz="2699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for these tasks. </a:t>
              </a:r>
            </a:p>
            <a:p>
              <a:pPr algn="l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This platform uses AI to bridge the gap, ensuring that a "Live Alert" (like the one currently active in your dashboard) automatically informs the Route Planner to optimize the path</a:t>
              </a:r>
              <a:r>
                <a:rPr lang="en-US" b="true" sz="26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07326" y="1897348"/>
            <a:ext cx="8351300" cy="3086100"/>
            <a:chOff x="0" y="0"/>
            <a:chExt cx="2199519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9519" cy="812800"/>
            </a:xfrm>
            <a:custGeom>
              <a:avLst/>
              <a:gdLst/>
              <a:ahLst/>
              <a:cxnLst/>
              <a:rect r="r" b="b" t="t" l="l"/>
              <a:pathLst>
                <a:path h="812800" w="2199519">
                  <a:moveTo>
                    <a:pt x="33373" y="0"/>
                  </a:moveTo>
                  <a:lnTo>
                    <a:pt x="2166146" y="0"/>
                  </a:lnTo>
                  <a:cubicBezTo>
                    <a:pt x="2174997" y="0"/>
                    <a:pt x="2183486" y="3516"/>
                    <a:pt x="2189745" y="9775"/>
                  </a:cubicBezTo>
                  <a:cubicBezTo>
                    <a:pt x="2196003" y="16033"/>
                    <a:pt x="2199519" y="24522"/>
                    <a:pt x="2199519" y="33373"/>
                  </a:cubicBezTo>
                  <a:lnTo>
                    <a:pt x="2199519" y="779427"/>
                  </a:lnTo>
                  <a:cubicBezTo>
                    <a:pt x="2199519" y="788278"/>
                    <a:pt x="2196003" y="796767"/>
                    <a:pt x="2189745" y="803025"/>
                  </a:cubicBezTo>
                  <a:cubicBezTo>
                    <a:pt x="2183486" y="809284"/>
                    <a:pt x="2174997" y="812800"/>
                    <a:pt x="2166146" y="812800"/>
                  </a:cubicBezTo>
                  <a:lnTo>
                    <a:pt x="33373" y="812800"/>
                  </a:lnTo>
                  <a:cubicBezTo>
                    <a:pt x="24522" y="812800"/>
                    <a:pt x="16033" y="809284"/>
                    <a:pt x="9775" y="803025"/>
                  </a:cubicBezTo>
                  <a:cubicBezTo>
                    <a:pt x="3516" y="796767"/>
                    <a:pt x="0" y="788278"/>
                    <a:pt x="0" y="779427"/>
                  </a:cubicBezTo>
                  <a:lnTo>
                    <a:pt x="0" y="33373"/>
                  </a:lnTo>
                  <a:cubicBezTo>
                    <a:pt x="0" y="24522"/>
                    <a:pt x="3516" y="16033"/>
                    <a:pt x="9775" y="9775"/>
                  </a:cubicBezTo>
                  <a:cubicBezTo>
                    <a:pt x="16033" y="3516"/>
                    <a:pt x="24522" y="0"/>
                    <a:pt x="33373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99519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Opportunities</a:t>
              </a:r>
            </a:p>
            <a:p>
              <a:pPr algn="l" marL="1295387" indent="-431796" lvl="2">
                <a:lnSpc>
                  <a:spcPts val="4199"/>
                </a:lnSpc>
                <a:buFont typeface="Arial"/>
                <a:buChar char="⚬"/>
              </a:pPr>
              <a:r>
                <a:rPr lang="en-US" sz="2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How different is it from any of the other existing ideas?</a:t>
              </a:r>
            </a:p>
            <a:p>
              <a:pPr algn="l" marL="1295387" indent="-431796" lvl="2">
                <a:lnSpc>
                  <a:spcPts val="4199"/>
                </a:lnSpc>
                <a:buFont typeface="Arial"/>
                <a:buChar char="⚬"/>
              </a:pPr>
              <a:r>
                <a:rPr lang="en-US" sz="2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How will it be able to solve the problem?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9420408" y="1390876"/>
            <a:ext cx="8867592" cy="4428654"/>
            <a:chOff x="0" y="0"/>
            <a:chExt cx="2335498" cy="11663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5498" cy="1166394"/>
            </a:xfrm>
            <a:custGeom>
              <a:avLst/>
              <a:gdLst/>
              <a:ahLst/>
              <a:cxnLst/>
              <a:rect r="r" b="b" t="t" l="l"/>
              <a:pathLst>
                <a:path h="1166394" w="2335498">
                  <a:moveTo>
                    <a:pt x="0" y="0"/>
                  </a:moveTo>
                  <a:lnTo>
                    <a:pt x="2335498" y="0"/>
                  </a:lnTo>
                  <a:lnTo>
                    <a:pt x="2335498" y="1166394"/>
                  </a:lnTo>
                  <a:lnTo>
                    <a:pt x="0" y="116639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35498" cy="120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13" id="13"/>
          <p:cNvGraphicFramePr/>
          <p:nvPr/>
        </p:nvGraphicFramePr>
        <p:xfrm>
          <a:off x="10541447" y="1545735"/>
          <a:ext cx="5657850" cy="3143250"/>
        </p:xfrm>
        <a:graphic>
          <a:graphicData uri="http://schemas.openxmlformats.org/presentationml/2006/ole">
            <p:oleObj imgW="6781800" imgH="4267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6529" y="2220103"/>
            <a:ext cx="7090307" cy="7570989"/>
            <a:chOff x="0" y="0"/>
            <a:chExt cx="1867406" cy="1994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67406" cy="1994005"/>
            </a:xfrm>
            <a:custGeom>
              <a:avLst/>
              <a:gdLst/>
              <a:ahLst/>
              <a:cxnLst/>
              <a:rect r="r" b="b" t="t" l="l"/>
              <a:pathLst>
                <a:path h="1994005" w="1867406">
                  <a:moveTo>
                    <a:pt x="18562" y="0"/>
                  </a:moveTo>
                  <a:lnTo>
                    <a:pt x="1848844" y="0"/>
                  </a:lnTo>
                  <a:cubicBezTo>
                    <a:pt x="1859095" y="0"/>
                    <a:pt x="1867406" y="8311"/>
                    <a:pt x="1867406" y="18562"/>
                  </a:cubicBezTo>
                  <a:lnTo>
                    <a:pt x="1867406" y="1975443"/>
                  </a:lnTo>
                  <a:cubicBezTo>
                    <a:pt x="1867406" y="1985695"/>
                    <a:pt x="1859095" y="1994005"/>
                    <a:pt x="1848844" y="1994005"/>
                  </a:cubicBezTo>
                  <a:lnTo>
                    <a:pt x="18562" y="1994005"/>
                  </a:lnTo>
                  <a:cubicBezTo>
                    <a:pt x="8311" y="1994005"/>
                    <a:pt x="0" y="1985695"/>
                    <a:pt x="0" y="1975443"/>
                  </a:cubicBezTo>
                  <a:lnTo>
                    <a:pt x="0" y="18562"/>
                  </a:lnTo>
                  <a:cubicBezTo>
                    <a:pt x="0" y="8311"/>
                    <a:pt x="8311" y="0"/>
                    <a:pt x="18562" y="0"/>
                  </a:cubicBezTo>
                  <a:close/>
                </a:path>
              </a:pathLst>
            </a:custGeom>
            <a:solidFill>
              <a:srgbClr val="AE8DF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67406" cy="2032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Core Management Modules</a:t>
              </a:r>
            </a:p>
            <a:p>
              <a:pPr algn="ctr">
                <a:lnSpc>
                  <a:spcPts val="2939"/>
                </a:lnSpc>
              </a:pP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 Route Planner</a:t>
              </a: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A dynamic tool that allows users to input starting locations and destinations to find the most optimized paths. It is designed to work across any locality or city with high accuracy.</a:t>
              </a:r>
            </a:p>
            <a:p>
              <a:pPr algn="l">
                <a:lnSpc>
                  <a:spcPts val="3359"/>
                </a:lnSpc>
              </a:pPr>
            </a:p>
            <a:p>
              <a:pPr algn="ctr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Shipment Tracking</a:t>
              </a: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A dedicated module to monitor the lifecycle and status of goods in transit.</a:t>
              </a:r>
            </a:p>
            <a:p>
              <a:pPr algn="ctr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Driver Managemen</a:t>
              </a: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t: A system to oversee driver assignments, availability, and performance metrics.</a:t>
              </a:r>
            </a:p>
            <a:p>
              <a:pPr algn="ctr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Route Analytics</a:t>
              </a: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Provides a high-level overview of active and historical transit paths to identify patterns and inefficiencies.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9012" y="1028700"/>
            <a:ext cx="7997348" cy="895954"/>
            <a:chOff x="0" y="0"/>
            <a:chExt cx="2106297" cy="2359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6297" cy="235971"/>
            </a:xfrm>
            <a:custGeom>
              <a:avLst/>
              <a:gdLst/>
              <a:ahLst/>
              <a:cxnLst/>
              <a:rect r="r" b="b" t="t" l="l"/>
              <a:pathLst>
                <a:path h="235971" w="2106297">
                  <a:moveTo>
                    <a:pt x="0" y="0"/>
                  </a:moveTo>
                  <a:lnTo>
                    <a:pt x="2106297" y="0"/>
                  </a:lnTo>
                  <a:lnTo>
                    <a:pt x="2106297" y="235971"/>
                  </a:lnTo>
                  <a:lnTo>
                    <a:pt x="0" y="235971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106297" cy="264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b="true" sz="3300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List of features offered by the solution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82863" y="2220103"/>
            <a:ext cx="10132480" cy="7329731"/>
            <a:chOff x="0" y="0"/>
            <a:chExt cx="2668637" cy="19304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8637" cy="1930464"/>
            </a:xfrm>
            <a:custGeom>
              <a:avLst/>
              <a:gdLst/>
              <a:ahLst/>
              <a:cxnLst/>
              <a:rect r="r" b="b" t="t" l="l"/>
              <a:pathLst>
                <a:path h="1930464" w="2668637">
                  <a:moveTo>
                    <a:pt x="12989" y="0"/>
                  </a:moveTo>
                  <a:lnTo>
                    <a:pt x="2655648" y="0"/>
                  </a:lnTo>
                  <a:cubicBezTo>
                    <a:pt x="2662821" y="0"/>
                    <a:pt x="2668637" y="5815"/>
                    <a:pt x="2668637" y="12989"/>
                  </a:cubicBezTo>
                  <a:lnTo>
                    <a:pt x="2668637" y="1917475"/>
                  </a:lnTo>
                  <a:cubicBezTo>
                    <a:pt x="2668637" y="1924649"/>
                    <a:pt x="2662821" y="1930464"/>
                    <a:pt x="2655648" y="1930464"/>
                  </a:cubicBezTo>
                  <a:lnTo>
                    <a:pt x="12989" y="1930464"/>
                  </a:lnTo>
                  <a:cubicBezTo>
                    <a:pt x="5815" y="1930464"/>
                    <a:pt x="0" y="1924649"/>
                    <a:pt x="0" y="1917475"/>
                  </a:cubicBezTo>
                  <a:lnTo>
                    <a:pt x="0" y="12989"/>
                  </a:lnTo>
                  <a:cubicBezTo>
                    <a:pt x="0" y="5815"/>
                    <a:pt x="5815" y="0"/>
                    <a:pt x="129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68637" cy="1968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055888" y="2780873"/>
            <a:ext cx="9786430" cy="5727465"/>
          </a:xfrm>
          <a:custGeom>
            <a:avLst/>
            <a:gdLst/>
            <a:ahLst/>
            <a:cxnLst/>
            <a:rect r="r" b="b" t="t" l="l"/>
            <a:pathLst>
              <a:path h="5727465" w="9786430">
                <a:moveTo>
                  <a:pt x="0" y="0"/>
                </a:moveTo>
                <a:lnTo>
                  <a:pt x="9786430" y="0"/>
                </a:lnTo>
                <a:lnTo>
                  <a:pt x="9786430" y="5727465"/>
                </a:lnTo>
                <a:lnTo>
                  <a:pt x="0" y="5727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22" t="0" r="-5122" b="-2061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830863" y="9002306"/>
            <a:ext cx="3838271" cy="1095058"/>
            <a:chOff x="0" y="0"/>
            <a:chExt cx="1010903" cy="2884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0903" cy="288410"/>
            </a:xfrm>
            <a:custGeom>
              <a:avLst/>
              <a:gdLst/>
              <a:ahLst/>
              <a:cxnLst/>
              <a:rect r="r" b="b" t="t" l="l"/>
              <a:pathLst>
                <a:path h="288410" w="1010903">
                  <a:moveTo>
                    <a:pt x="0" y="0"/>
                  </a:moveTo>
                  <a:lnTo>
                    <a:pt x="1010903" y="0"/>
                  </a:lnTo>
                  <a:lnTo>
                    <a:pt x="1010903" y="288410"/>
                  </a:lnTo>
                  <a:lnTo>
                    <a:pt x="0" y="288410"/>
                  </a:lnTo>
                  <a:close/>
                </a:path>
              </a:pathLst>
            </a:custGeom>
            <a:solidFill>
              <a:srgbClr val="4A7FF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10903" cy="336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Insights from</a:t>
              </a:r>
              <a:r>
                <a:rPr lang="en-US" b="true" sz="2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MVP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68" y="0"/>
            <a:ext cx="18288010" cy="1178690"/>
            <a:chOff x="0" y="0"/>
            <a:chExt cx="24384013" cy="1571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643354"/>
            <a:ext cx="18288000" cy="2643646"/>
            <a:chOff x="0" y="0"/>
            <a:chExt cx="4816593" cy="6962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696269"/>
            </a:xfrm>
            <a:custGeom>
              <a:avLst/>
              <a:gdLst/>
              <a:ahLst/>
              <a:cxnLst/>
              <a:rect r="r" b="b" t="t" l="l"/>
              <a:pathLst>
                <a:path h="69626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96269"/>
                  </a:lnTo>
                  <a:lnTo>
                    <a:pt x="0" y="696269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73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80272" y="8052624"/>
            <a:ext cx="4170112" cy="1825107"/>
            <a:chOff x="0" y="0"/>
            <a:chExt cx="1098301" cy="4806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8301" cy="480687"/>
            </a:xfrm>
            <a:custGeom>
              <a:avLst/>
              <a:gdLst/>
              <a:ahLst/>
              <a:cxnLst/>
              <a:rect r="r" b="b" t="t" l="l"/>
              <a:pathLst>
                <a:path h="480687" w="1098301">
                  <a:moveTo>
                    <a:pt x="31561" y="0"/>
                  </a:moveTo>
                  <a:lnTo>
                    <a:pt x="1066740" y="0"/>
                  </a:lnTo>
                  <a:cubicBezTo>
                    <a:pt x="1075111" y="0"/>
                    <a:pt x="1083138" y="3325"/>
                    <a:pt x="1089057" y="9244"/>
                  </a:cubicBezTo>
                  <a:cubicBezTo>
                    <a:pt x="1094976" y="15163"/>
                    <a:pt x="1098301" y="23190"/>
                    <a:pt x="1098301" y="31561"/>
                  </a:cubicBezTo>
                  <a:lnTo>
                    <a:pt x="1098301" y="449126"/>
                  </a:lnTo>
                  <a:cubicBezTo>
                    <a:pt x="1098301" y="466556"/>
                    <a:pt x="1084171" y="480687"/>
                    <a:pt x="1066740" y="480687"/>
                  </a:cubicBezTo>
                  <a:lnTo>
                    <a:pt x="31561" y="480687"/>
                  </a:lnTo>
                  <a:cubicBezTo>
                    <a:pt x="23190" y="480687"/>
                    <a:pt x="15163" y="477361"/>
                    <a:pt x="9244" y="471443"/>
                  </a:cubicBezTo>
                  <a:cubicBezTo>
                    <a:pt x="3325" y="465524"/>
                    <a:pt x="0" y="457496"/>
                    <a:pt x="0" y="449126"/>
                  </a:cubicBezTo>
                  <a:lnTo>
                    <a:pt x="0" y="31561"/>
                  </a:lnTo>
                  <a:cubicBezTo>
                    <a:pt x="0" y="14130"/>
                    <a:pt x="14130" y="0"/>
                    <a:pt x="31561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8301" cy="51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Continuous Stream Processing</a:t>
              </a:r>
              <a:r>
                <a:rPr lang="en-US" sz="2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; sub-second live data analysis.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6268" y="8052624"/>
            <a:ext cx="4170112" cy="1825107"/>
            <a:chOff x="0" y="0"/>
            <a:chExt cx="1098301" cy="4806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8301" cy="480687"/>
            </a:xfrm>
            <a:custGeom>
              <a:avLst/>
              <a:gdLst/>
              <a:ahLst/>
              <a:cxnLst/>
              <a:rect r="r" b="b" t="t" l="l"/>
              <a:pathLst>
                <a:path h="480687" w="1098301">
                  <a:moveTo>
                    <a:pt x="31561" y="0"/>
                  </a:moveTo>
                  <a:lnTo>
                    <a:pt x="1066740" y="0"/>
                  </a:lnTo>
                  <a:cubicBezTo>
                    <a:pt x="1075111" y="0"/>
                    <a:pt x="1083138" y="3325"/>
                    <a:pt x="1089057" y="9244"/>
                  </a:cubicBezTo>
                  <a:cubicBezTo>
                    <a:pt x="1094976" y="15163"/>
                    <a:pt x="1098301" y="23190"/>
                    <a:pt x="1098301" y="31561"/>
                  </a:cubicBezTo>
                  <a:lnTo>
                    <a:pt x="1098301" y="449126"/>
                  </a:lnTo>
                  <a:cubicBezTo>
                    <a:pt x="1098301" y="466556"/>
                    <a:pt x="1084171" y="480687"/>
                    <a:pt x="1066740" y="480687"/>
                  </a:cubicBezTo>
                  <a:lnTo>
                    <a:pt x="31561" y="480687"/>
                  </a:lnTo>
                  <a:cubicBezTo>
                    <a:pt x="23190" y="480687"/>
                    <a:pt x="15163" y="477361"/>
                    <a:pt x="9244" y="471443"/>
                  </a:cubicBezTo>
                  <a:cubicBezTo>
                    <a:pt x="3325" y="465524"/>
                    <a:pt x="0" y="457496"/>
                    <a:pt x="0" y="449126"/>
                  </a:cubicBezTo>
                  <a:lnTo>
                    <a:pt x="0" y="31561"/>
                  </a:lnTo>
                  <a:cubicBezTo>
                    <a:pt x="0" y="14130"/>
                    <a:pt x="14130" y="0"/>
                    <a:pt x="31561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8301" cy="51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Preemptive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Detects "multifaceted transit data" to flag issues before they happen.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43817" y="8052624"/>
            <a:ext cx="4170112" cy="1825107"/>
            <a:chOff x="0" y="0"/>
            <a:chExt cx="1098301" cy="4806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8301" cy="480687"/>
            </a:xfrm>
            <a:custGeom>
              <a:avLst/>
              <a:gdLst/>
              <a:ahLst/>
              <a:cxnLst/>
              <a:rect r="r" b="b" t="t" l="l"/>
              <a:pathLst>
                <a:path h="480687" w="1098301">
                  <a:moveTo>
                    <a:pt x="31561" y="0"/>
                  </a:moveTo>
                  <a:lnTo>
                    <a:pt x="1066740" y="0"/>
                  </a:lnTo>
                  <a:cubicBezTo>
                    <a:pt x="1075111" y="0"/>
                    <a:pt x="1083138" y="3325"/>
                    <a:pt x="1089057" y="9244"/>
                  </a:cubicBezTo>
                  <a:cubicBezTo>
                    <a:pt x="1094976" y="15163"/>
                    <a:pt x="1098301" y="23190"/>
                    <a:pt x="1098301" y="31561"/>
                  </a:cubicBezTo>
                  <a:lnTo>
                    <a:pt x="1098301" y="449126"/>
                  </a:lnTo>
                  <a:cubicBezTo>
                    <a:pt x="1098301" y="466556"/>
                    <a:pt x="1084171" y="480687"/>
                    <a:pt x="1066740" y="480687"/>
                  </a:cubicBezTo>
                  <a:lnTo>
                    <a:pt x="31561" y="480687"/>
                  </a:lnTo>
                  <a:cubicBezTo>
                    <a:pt x="23190" y="480687"/>
                    <a:pt x="15163" y="477361"/>
                    <a:pt x="9244" y="471443"/>
                  </a:cubicBezTo>
                  <a:cubicBezTo>
                    <a:pt x="3325" y="465524"/>
                    <a:pt x="0" y="457496"/>
                    <a:pt x="0" y="449126"/>
                  </a:cubicBezTo>
                  <a:lnTo>
                    <a:pt x="0" y="31561"/>
                  </a:lnTo>
                  <a:cubicBezTo>
                    <a:pt x="0" y="14130"/>
                    <a:pt x="14130" y="0"/>
                    <a:pt x="3156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98301" cy="51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Instantly recommends via AI based on traffic, weather, and 55% traffic thresholds.</a:t>
              </a:r>
            </a:p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47341" y="8052624"/>
            <a:ext cx="4170112" cy="1825107"/>
            <a:chOff x="0" y="0"/>
            <a:chExt cx="1098301" cy="4806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301" cy="480687"/>
            </a:xfrm>
            <a:custGeom>
              <a:avLst/>
              <a:gdLst/>
              <a:ahLst/>
              <a:cxnLst/>
              <a:rect r="r" b="b" t="t" l="l"/>
              <a:pathLst>
                <a:path h="480687" w="1098301">
                  <a:moveTo>
                    <a:pt x="31561" y="0"/>
                  </a:moveTo>
                  <a:lnTo>
                    <a:pt x="1066740" y="0"/>
                  </a:lnTo>
                  <a:cubicBezTo>
                    <a:pt x="1075111" y="0"/>
                    <a:pt x="1083138" y="3325"/>
                    <a:pt x="1089057" y="9244"/>
                  </a:cubicBezTo>
                  <a:cubicBezTo>
                    <a:pt x="1094976" y="15163"/>
                    <a:pt x="1098301" y="23190"/>
                    <a:pt x="1098301" y="31561"/>
                  </a:cubicBezTo>
                  <a:lnTo>
                    <a:pt x="1098301" y="449126"/>
                  </a:lnTo>
                  <a:cubicBezTo>
                    <a:pt x="1098301" y="466556"/>
                    <a:pt x="1084171" y="480687"/>
                    <a:pt x="1066740" y="480687"/>
                  </a:cubicBezTo>
                  <a:lnTo>
                    <a:pt x="31561" y="480687"/>
                  </a:lnTo>
                  <a:cubicBezTo>
                    <a:pt x="23190" y="480687"/>
                    <a:pt x="15163" y="477361"/>
                    <a:pt x="9244" y="471443"/>
                  </a:cubicBezTo>
                  <a:cubicBezTo>
                    <a:pt x="3325" y="465524"/>
                    <a:pt x="0" y="457496"/>
                    <a:pt x="0" y="449126"/>
                  </a:cubicBezTo>
                  <a:lnTo>
                    <a:pt x="0" y="31561"/>
                  </a:lnTo>
                  <a:cubicBezTo>
                    <a:pt x="0" y="14130"/>
                    <a:pt x="14130" y="0"/>
                    <a:pt x="31561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8301" cy="51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Scalable Cloud-Native</a:t>
              </a:r>
              <a:r>
                <a:rPr lang="en-US" sz="1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Designed for high-volume shipment and driver monitoring.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89631" y="1178690"/>
            <a:ext cx="5209878" cy="6116909"/>
            <a:chOff x="0" y="0"/>
            <a:chExt cx="1372149" cy="16110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2149" cy="1611038"/>
            </a:xfrm>
            <a:custGeom>
              <a:avLst/>
              <a:gdLst/>
              <a:ahLst/>
              <a:cxnLst/>
              <a:rect r="r" b="b" t="t" l="l"/>
              <a:pathLst>
                <a:path h="1611038" w="1372149">
                  <a:moveTo>
                    <a:pt x="0" y="0"/>
                  </a:moveTo>
                  <a:lnTo>
                    <a:pt x="1372149" y="0"/>
                  </a:lnTo>
                  <a:lnTo>
                    <a:pt x="1372149" y="1611038"/>
                  </a:lnTo>
                  <a:lnTo>
                    <a:pt x="0" y="1611038"/>
                  </a:lnTo>
                  <a:close/>
                </a:path>
              </a:pathLst>
            </a:custGeom>
            <a:solidFill>
              <a:srgbClr val="3E68D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72149" cy="1649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36268" y="152400"/>
            <a:ext cx="18288010" cy="1178690"/>
            <a:chOff x="0" y="0"/>
            <a:chExt cx="24384013" cy="15715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aphicFrame>
        <p:nvGraphicFramePr>
          <p:cNvPr name="Object 24" id="24"/>
          <p:cNvGraphicFramePr/>
          <p:nvPr/>
        </p:nvGraphicFramePr>
        <p:xfrm>
          <a:off x="13382301" y="1420284"/>
          <a:ext cx="5657850" cy="3143250"/>
        </p:xfrm>
        <a:graphic>
          <a:graphicData uri="http://schemas.openxmlformats.org/presentationml/2006/ole">
            <p:oleObj imgW="6781800" imgH="4267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621681" y="4517447"/>
            <a:ext cx="5556305" cy="3241178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 rot="0">
            <a:off x="-40266" y="1572684"/>
            <a:ext cx="5810034" cy="5722915"/>
            <a:chOff x="0" y="0"/>
            <a:chExt cx="1530215" cy="15072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0215" cy="1507270"/>
            </a:xfrm>
            <a:custGeom>
              <a:avLst/>
              <a:gdLst/>
              <a:ahLst/>
              <a:cxnLst/>
              <a:rect r="r" b="b" t="t" l="l"/>
              <a:pathLst>
                <a:path h="1507270" w="1530215">
                  <a:moveTo>
                    <a:pt x="0" y="0"/>
                  </a:moveTo>
                  <a:lnTo>
                    <a:pt x="1530215" y="0"/>
                  </a:lnTo>
                  <a:lnTo>
                    <a:pt x="1530215" y="1507270"/>
                  </a:lnTo>
                  <a:lnTo>
                    <a:pt x="0" y="1507270"/>
                  </a:lnTo>
                  <a:close/>
                </a:path>
              </a:pathLst>
            </a:custGeom>
            <a:solidFill>
              <a:srgbClr val="3E68D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30215" cy="1545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29" id="29"/>
          <p:cNvGraphicFramePr/>
          <p:nvPr/>
        </p:nvGraphicFramePr>
        <p:xfrm>
          <a:off x="236268" y="1982887"/>
          <a:ext cx="6758473" cy="7468741"/>
        </p:xfrm>
        <a:graphic>
          <a:graphicData uri="http://schemas.openxmlformats.org/presentationml/2006/ole">
            <p:oleObj imgW="8242300" imgH="89535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30" id="30"/>
          <p:cNvGrpSpPr/>
          <p:nvPr/>
        </p:nvGrpSpPr>
        <p:grpSpPr>
          <a:xfrm rot="0">
            <a:off x="6538318" y="2010940"/>
            <a:ext cx="2841955" cy="2356051"/>
            <a:chOff x="0" y="0"/>
            <a:chExt cx="980429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0429" cy="812800"/>
            </a:xfrm>
            <a:custGeom>
              <a:avLst/>
              <a:gdLst/>
              <a:ahLst/>
              <a:cxnLst/>
              <a:rect r="r" b="b" t="t" l="l"/>
              <a:pathLst>
                <a:path h="812800" w="980429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80429" y="203200"/>
                  </a:lnTo>
                  <a:lnTo>
                    <a:pt x="980429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165100"/>
              <a:ext cx="87882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Technology</a:t>
              </a: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used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921974" y="2010940"/>
            <a:ext cx="2289683" cy="2289683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A7FF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Features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1227" y="1153448"/>
            <a:ext cx="9153930" cy="4891544"/>
            <a:chOff x="0" y="0"/>
            <a:chExt cx="2410912" cy="12883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912" cy="1288308"/>
            </a:xfrm>
            <a:custGeom>
              <a:avLst/>
              <a:gdLst/>
              <a:ahLst/>
              <a:cxnLst/>
              <a:rect r="r" b="b" t="t" l="l"/>
              <a:pathLst>
                <a:path h="1288308" w="2410912">
                  <a:moveTo>
                    <a:pt x="44825" y="0"/>
                  </a:moveTo>
                  <a:lnTo>
                    <a:pt x="2366087" y="0"/>
                  </a:lnTo>
                  <a:cubicBezTo>
                    <a:pt x="2390843" y="0"/>
                    <a:pt x="2410912" y="20069"/>
                    <a:pt x="2410912" y="44825"/>
                  </a:cubicBezTo>
                  <a:lnTo>
                    <a:pt x="2410912" y="1243483"/>
                  </a:lnTo>
                  <a:cubicBezTo>
                    <a:pt x="2410912" y="1268239"/>
                    <a:pt x="2390843" y="1288308"/>
                    <a:pt x="2366087" y="1288308"/>
                  </a:cubicBezTo>
                  <a:lnTo>
                    <a:pt x="44825" y="1288308"/>
                  </a:lnTo>
                  <a:cubicBezTo>
                    <a:pt x="20069" y="1288308"/>
                    <a:pt x="0" y="1268239"/>
                    <a:pt x="0" y="1243483"/>
                  </a:cubicBezTo>
                  <a:lnTo>
                    <a:pt x="0" y="44825"/>
                  </a:lnTo>
                  <a:cubicBezTo>
                    <a:pt x="0" y="20069"/>
                    <a:pt x="20069" y="0"/>
                    <a:pt x="44825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10912" cy="1335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Intelligence &amp; Live Monitoring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Predictive Heuristics: Analyzes data to flag supply chain disruptions before they happen.</a:t>
              </a:r>
            </a:p>
            <a:p>
              <a:pPr algn="ctr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Live Environmental Feeds: Real-time monitoring of traffic surges (55%+ thresholds) and weather conditions.</a:t>
              </a:r>
            </a:p>
            <a:p>
              <a:pPr algn="ctr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Preemptive Alerts: Visual indicators that warn operators of emerging bottlenecks.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75157" y="6376832"/>
            <a:ext cx="8227040" cy="3777432"/>
            <a:chOff x="0" y="0"/>
            <a:chExt cx="2166792" cy="9948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6792" cy="994879"/>
            </a:xfrm>
            <a:custGeom>
              <a:avLst/>
              <a:gdLst/>
              <a:ahLst/>
              <a:cxnLst/>
              <a:rect r="r" b="b" t="t" l="l"/>
              <a:pathLst>
                <a:path h="994879" w="2166792">
                  <a:moveTo>
                    <a:pt x="55521" y="0"/>
                  </a:moveTo>
                  <a:lnTo>
                    <a:pt x="2111271" y="0"/>
                  </a:lnTo>
                  <a:cubicBezTo>
                    <a:pt x="2125996" y="0"/>
                    <a:pt x="2140118" y="5850"/>
                    <a:pt x="2150531" y="16262"/>
                  </a:cubicBezTo>
                  <a:cubicBezTo>
                    <a:pt x="2160943" y="26674"/>
                    <a:pt x="2166792" y="40796"/>
                    <a:pt x="2166792" y="55521"/>
                  </a:cubicBezTo>
                  <a:lnTo>
                    <a:pt x="2166792" y="939358"/>
                  </a:lnTo>
                  <a:cubicBezTo>
                    <a:pt x="2166792" y="954083"/>
                    <a:pt x="2160943" y="968205"/>
                    <a:pt x="2150531" y="978617"/>
                  </a:cubicBezTo>
                  <a:cubicBezTo>
                    <a:pt x="2140118" y="989030"/>
                    <a:pt x="2125996" y="994879"/>
                    <a:pt x="2111271" y="994879"/>
                  </a:cubicBezTo>
                  <a:lnTo>
                    <a:pt x="55521" y="994879"/>
                  </a:lnTo>
                  <a:cubicBezTo>
                    <a:pt x="40796" y="994879"/>
                    <a:pt x="26674" y="989030"/>
                    <a:pt x="16262" y="978617"/>
                  </a:cubicBezTo>
                  <a:cubicBezTo>
                    <a:pt x="5850" y="968205"/>
                    <a:pt x="0" y="954083"/>
                    <a:pt x="0" y="939358"/>
                  </a:cubicBezTo>
                  <a:lnTo>
                    <a:pt x="0" y="55521"/>
                  </a:lnTo>
                  <a:cubicBezTo>
                    <a:pt x="0" y="40796"/>
                    <a:pt x="5850" y="26674"/>
                    <a:pt x="16262" y="16262"/>
                  </a:cubicBezTo>
                  <a:cubicBezTo>
                    <a:pt x="26674" y="5850"/>
                    <a:pt x="40796" y="0"/>
                    <a:pt x="55521" y="0"/>
                  </a:cubicBezTo>
                  <a:close/>
                </a:path>
              </a:pathLst>
            </a:custGeom>
            <a:solidFill>
              <a:srgbClr val="4A7F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66792" cy="1042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Primary Operations Interfaces</a:t>
              </a:r>
            </a:p>
            <a:p>
              <a:pPr algn="ctr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Route Planner: Generates optimized, real-time paths to bypass local disruptions.</a:t>
              </a:r>
            </a:p>
            <a:p>
              <a:pPr algn="ctr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Shipment Tracking Console: Centralized hub for monitoring the end-to-end lifecycle of goods.</a:t>
              </a:r>
            </a:p>
            <a:p>
              <a:pPr algn="ctr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Driver Management System: Tracks driver assignments, performance, and availability.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1227" y="6199851"/>
            <a:ext cx="8458197" cy="3777432"/>
            <a:chOff x="0" y="0"/>
            <a:chExt cx="2227673" cy="9948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7673" cy="994879"/>
            </a:xfrm>
            <a:custGeom>
              <a:avLst/>
              <a:gdLst/>
              <a:ahLst/>
              <a:cxnLst/>
              <a:rect r="r" b="b" t="t" l="l"/>
              <a:pathLst>
                <a:path h="994879" w="2227673">
                  <a:moveTo>
                    <a:pt x="51258" y="0"/>
                  </a:moveTo>
                  <a:lnTo>
                    <a:pt x="2176415" y="0"/>
                  </a:lnTo>
                  <a:cubicBezTo>
                    <a:pt x="2204724" y="0"/>
                    <a:pt x="2227673" y="22949"/>
                    <a:pt x="2227673" y="51258"/>
                  </a:cubicBezTo>
                  <a:lnTo>
                    <a:pt x="2227673" y="943621"/>
                  </a:lnTo>
                  <a:cubicBezTo>
                    <a:pt x="2227673" y="957216"/>
                    <a:pt x="2222273" y="970253"/>
                    <a:pt x="2212660" y="979866"/>
                  </a:cubicBezTo>
                  <a:cubicBezTo>
                    <a:pt x="2203048" y="989479"/>
                    <a:pt x="2190010" y="994879"/>
                    <a:pt x="2176415" y="994879"/>
                  </a:cubicBezTo>
                  <a:lnTo>
                    <a:pt x="51258" y="994879"/>
                  </a:lnTo>
                  <a:cubicBezTo>
                    <a:pt x="37663" y="994879"/>
                    <a:pt x="24626" y="989479"/>
                    <a:pt x="15013" y="979866"/>
                  </a:cubicBezTo>
                  <a:cubicBezTo>
                    <a:pt x="5400" y="970253"/>
                    <a:pt x="0" y="957216"/>
                    <a:pt x="0" y="943621"/>
                  </a:cubicBezTo>
                  <a:lnTo>
                    <a:pt x="0" y="51258"/>
                  </a:lnTo>
                  <a:cubicBezTo>
                    <a:pt x="0" y="37663"/>
                    <a:pt x="5400" y="24626"/>
                    <a:pt x="15013" y="15013"/>
                  </a:cubicBezTo>
                  <a:cubicBezTo>
                    <a:pt x="24626" y="5400"/>
                    <a:pt x="37663" y="0"/>
                    <a:pt x="51258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27673" cy="1032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System Capabilities</a:t>
              </a:r>
            </a:p>
            <a:p>
              <a:pPr algn="ctr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Interactive Mapping: High-precision visualization via </a:t>
              </a:r>
              <a:r>
                <a:rPr lang="en-US" sz="2399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2" tooltip="https://leafletjs.com"/>
                </a:rPr>
                <a:t>Leaflet</a:t>
              </a: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and </a:t>
              </a:r>
              <a:r>
                <a:rPr lang="en-US" sz="2399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3" tooltip="https://www.openstreetmap.org"/>
                </a:rPr>
                <a:t>OpenStreetMap</a:t>
              </a: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  <a:p>
              <a:pPr algn="ctr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Cloud-Native Scale: Built to process massive data streams with zero lag.</a:t>
              </a:r>
            </a:p>
            <a:p>
              <a:pPr algn="ctr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Adaptive UI: Responsive dashboard featuring dark mode and streamlined navigation.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52143" y="1241939"/>
            <a:ext cx="8581003" cy="4670317"/>
            <a:chOff x="0" y="0"/>
            <a:chExt cx="2260017" cy="1230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0017" cy="1230042"/>
            </a:xfrm>
            <a:custGeom>
              <a:avLst/>
              <a:gdLst/>
              <a:ahLst/>
              <a:cxnLst/>
              <a:rect r="r" b="b" t="t" l="l"/>
              <a:pathLst>
                <a:path h="1230042" w="2260017">
                  <a:moveTo>
                    <a:pt x="49622" y="0"/>
                  </a:moveTo>
                  <a:lnTo>
                    <a:pt x="2210395" y="0"/>
                  </a:lnTo>
                  <a:cubicBezTo>
                    <a:pt x="2237801" y="0"/>
                    <a:pt x="2260017" y="22216"/>
                    <a:pt x="2260017" y="49622"/>
                  </a:cubicBezTo>
                  <a:lnTo>
                    <a:pt x="2260017" y="1180420"/>
                  </a:lnTo>
                  <a:cubicBezTo>
                    <a:pt x="2260017" y="1193581"/>
                    <a:pt x="2254789" y="1206203"/>
                    <a:pt x="2245483" y="1215508"/>
                  </a:cubicBezTo>
                  <a:cubicBezTo>
                    <a:pt x="2236177" y="1224814"/>
                    <a:pt x="2223556" y="1230042"/>
                    <a:pt x="2210395" y="1230042"/>
                  </a:cubicBezTo>
                  <a:lnTo>
                    <a:pt x="49622" y="1230042"/>
                  </a:lnTo>
                  <a:cubicBezTo>
                    <a:pt x="22216" y="1230042"/>
                    <a:pt x="0" y="1207826"/>
                    <a:pt x="0" y="1180420"/>
                  </a:cubicBezTo>
                  <a:lnTo>
                    <a:pt x="0" y="49622"/>
                  </a:lnTo>
                  <a:cubicBezTo>
                    <a:pt x="0" y="22216"/>
                    <a:pt x="22216" y="0"/>
                    <a:pt x="49622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60017" cy="127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Intelligence &amp; Risk Mitigation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Live Disruption Monitor: Tracks environmental variables, including:</a:t>
              </a:r>
            </a:p>
            <a:p>
              <a:pPr algn="ctr" marL="993135" indent="-331045" lvl="2">
                <a:lnSpc>
                  <a:spcPts val="3219"/>
                </a:lnSpc>
                <a:buFont typeface="Arial"/>
                <a:buChar char="⚬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Traffic Thresholds: Identifies surges exceeding 55% density.</a:t>
              </a:r>
            </a:p>
            <a:p>
              <a:pPr algn="ctr" marL="993135" indent="-331045" lvl="2">
                <a:lnSpc>
                  <a:spcPts val="3219"/>
                </a:lnSpc>
                <a:buFont typeface="Arial"/>
                <a:buChar char="⚬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Weather Guard: Evaluates risks based on atmospheric conditions (e.g., storms).</a:t>
              </a:r>
            </a:p>
            <a:p>
              <a:pPr algn="ctr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Preemptive Alert System: Visual signaling that notifies managers of bottlenecks before they occur.</a:t>
              </a:r>
            </a:p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" y="-25242"/>
            <a:ext cx="18288010" cy="1178690"/>
            <a:chOff x="0" y="0"/>
            <a:chExt cx="24384013" cy="15715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178690"/>
            <a:chOff x="0" y="0"/>
            <a:chExt cx="24384013" cy="1571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1625"/>
            </a:xfrm>
            <a:custGeom>
              <a:avLst/>
              <a:gdLst/>
              <a:ahLst/>
              <a:cxnLst/>
              <a:rect r="r" b="b" t="t" l="l"/>
              <a:pathLst>
                <a:path h="15716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71625"/>
                  </a:lnTo>
                  <a:lnTo>
                    <a:pt x="0" y="157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305878"/>
            <a:ext cx="18164755" cy="8981122"/>
            <a:chOff x="0" y="0"/>
            <a:chExt cx="4784133" cy="23653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84133" cy="2365398"/>
            </a:xfrm>
            <a:custGeom>
              <a:avLst/>
              <a:gdLst/>
              <a:ahLst/>
              <a:cxnLst/>
              <a:rect r="r" b="b" t="t" l="l"/>
              <a:pathLst>
                <a:path h="2365398" w="4784133">
                  <a:moveTo>
                    <a:pt x="7245" y="0"/>
                  </a:moveTo>
                  <a:lnTo>
                    <a:pt x="4776888" y="0"/>
                  </a:lnTo>
                  <a:cubicBezTo>
                    <a:pt x="4778809" y="0"/>
                    <a:pt x="4780652" y="763"/>
                    <a:pt x="4782011" y="2122"/>
                  </a:cubicBezTo>
                  <a:cubicBezTo>
                    <a:pt x="4783370" y="3481"/>
                    <a:pt x="4784133" y="5324"/>
                    <a:pt x="4784133" y="7245"/>
                  </a:cubicBezTo>
                  <a:lnTo>
                    <a:pt x="4784133" y="2358153"/>
                  </a:lnTo>
                  <a:cubicBezTo>
                    <a:pt x="4784133" y="2360075"/>
                    <a:pt x="4783370" y="2361917"/>
                    <a:pt x="4782011" y="2363276"/>
                  </a:cubicBezTo>
                  <a:cubicBezTo>
                    <a:pt x="4780652" y="2364635"/>
                    <a:pt x="4778809" y="2365398"/>
                    <a:pt x="4776888" y="2365398"/>
                  </a:cubicBezTo>
                  <a:lnTo>
                    <a:pt x="7245" y="2365398"/>
                  </a:lnTo>
                  <a:cubicBezTo>
                    <a:pt x="5324" y="2365398"/>
                    <a:pt x="3481" y="2364635"/>
                    <a:pt x="2122" y="2363276"/>
                  </a:cubicBezTo>
                  <a:cubicBezTo>
                    <a:pt x="763" y="2361917"/>
                    <a:pt x="0" y="2360075"/>
                    <a:pt x="0" y="2358153"/>
                  </a:cubicBezTo>
                  <a:lnTo>
                    <a:pt x="0" y="7245"/>
                  </a:lnTo>
                  <a:cubicBezTo>
                    <a:pt x="0" y="5324"/>
                    <a:pt x="763" y="3481"/>
                    <a:pt x="2122" y="2122"/>
                  </a:cubicBezTo>
                  <a:cubicBezTo>
                    <a:pt x="3481" y="763"/>
                    <a:pt x="5324" y="0"/>
                    <a:pt x="72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84133" cy="2403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0" y="1487327"/>
            <a:ext cx="18288010" cy="8618224"/>
          </a:xfrm>
          <a:custGeom>
            <a:avLst/>
            <a:gdLst/>
            <a:ahLst/>
            <a:cxnLst/>
            <a:rect r="r" b="b" t="t" l="l"/>
            <a:pathLst>
              <a:path h="8618224" w="18288010">
                <a:moveTo>
                  <a:pt x="0" y="0"/>
                </a:moveTo>
                <a:lnTo>
                  <a:pt x="18288010" y="0"/>
                </a:lnTo>
                <a:lnTo>
                  <a:pt x="18288010" y="8618224"/>
                </a:lnTo>
                <a:lnTo>
                  <a:pt x="0" y="8618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7" y="0"/>
            <a:ext cx="18288038" cy="10287000"/>
            <a:chOff x="0" y="0"/>
            <a:chExt cx="2438405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DAHHmXzPUts</dc:identifier>
  <dcterms:modified xsi:type="dcterms:W3CDTF">2011-08-01T06:04:30Z</dcterms:modified>
  <cp:revision>1</cp:revision>
  <dc:title>[EXT] Solution Challenge 2026 - Prototype PPT Template.pptx</dc:title>
</cp:coreProperties>
</file>